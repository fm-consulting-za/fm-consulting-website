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CVR</c:v>
                </c:pt>
              </c:strCache>
            </c:strRef>
          </c:tx>
          <c:spPr>
            <a:solidFill>
              <a:srgbClr val="0F121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211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2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85E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C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E6E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Lead forms</c:v>
                  </c:pt>
                  <c:pt idx="1">
                    <c:v>Paid search</c:v>
                  </c:pt>
                  <c:pt idx="2">
                    <c:v>Paid social</c:v>
                  </c:pt>
                  <c:pt idx="3">
                    <c:v>Retargeting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2.4</c:v>
                </c:pt>
                <c:pt idx="2">
                  <c:v>1.1</c:v>
                </c:pt>
                <c:pt idx="3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211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F121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211"/>
                </a:solidFill>
                <a:latin typeface="Archiv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9525" cap="flat">
              <a:solidFill>
                <a:srgbClr val="E4E6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85E5B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title, client, reference and date. Keep the lockup at this size and position — it is the same optical position as the letterhead.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Contents. Add or remove rows — keep the first rule in ink and the rest in silver, so the top of the list reads as the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numeral is the navigation — keep it large and quiet, and let the section title carry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workhorse. Body left, evidence right. Never more than three figures — a fourth turns the column into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slide. One idea, no supporting bullets. Use it to mark the turn in the argument — at most twice in a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slide. Chart left, the takeaway right — written as a sentence, not a label. If you cannot write the takeaway, the chart is not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slide. Words left, numbers right, monospaced so the digits line up. Keep to five rows — beyond that it belongs in an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Same ink ground as the cover, so the deck is bracketed. Replace contact details once, here and on the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6928"/>
            <a:ext cx="2651760" cy="7974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7665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60" kern="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77240" y="288036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Acquisition &amp;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retention system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redesign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5870448"/>
            <a:ext cx="10637215" cy="7315"/>
          </a:xfrm>
          <a:prstGeom prst="rect">
            <a:avLst/>
          </a:prstGeom>
          <a:solidFill>
            <a:srgbClr val="3A3E3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35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spc="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PREPARED FOR
</a:t>
            </a:r>
            <a:pPr indent="0" marL="0">
              <a:lnSpc>
                <a:spcPct val="150000"/>
              </a:lnSpc>
              <a:buNone/>
            </a:pPr>
            <a:r>
              <a:rPr lang="en-US" sz="1000" spc="60" kern="0" dirty="0">
                <a:solidFill>
                  <a:srgbClr val="F2F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 Name (Pty) Ltd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42455" y="6035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spc="60" kern="0" dirty="0">
                <a:solidFill>
                  <a:srgbClr val="F2F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  FM-2026-014
</a:t>
            </a:r>
            <a:pPr algn="r" indent="0" marL="0">
              <a:lnSpc>
                <a:spcPct val="150000"/>
              </a:lnSpc>
              <a:buNone/>
            </a:pPr>
            <a:r>
              <a:rPr lang="en-US" sz="1000" spc="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82970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0637215" cy="7315"/>
          </a:xfrm>
          <a:prstGeom prst="rect">
            <a:avLst/>
          </a:prstGeom>
          <a:solidFill>
            <a:srgbClr val="0F121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140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241401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the revenue is leaking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944368"/>
            <a:ext cx="10637215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723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3072384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we would 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602736"/>
            <a:ext cx="10637215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30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730752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system, end to 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261104"/>
            <a:ext cx="10637215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891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438912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Measurement &amp; reporting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919472"/>
            <a:ext cx="10637215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47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504748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Timeline, resourcing &amp; commercials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5577840"/>
            <a:ext cx="10637215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20" name="Text 18"/>
          <p:cNvSpPr/>
          <p:nvPr/>
        </p:nvSpPr>
        <p:spPr>
          <a:xfrm>
            <a:off x="10317175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7240" y="6446520"/>
            <a:ext cx="329184" cy="3438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886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the revenue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 leaking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6928"/>
            <a:ext cx="1920240" cy="5774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WHERE THE REVENUE IS LEAKING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82970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Spend is not the constraint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constraint is what happens in the forty-eight hours after a lead arrives, and nothing currently owns that window.</a:t>
            </a:r>
            <a:endParaRPr lang="en-US" sz="1350" dirty="0"/>
          </a:p>
          <a:p>
            <a:pPr indent="0" marL="0">
              <a:lnSpc>
                <a:spcPct val="142000"/>
              </a:lnSpc>
              <a:buNone/>
            </a:pPr>
            <a:endParaRPr lang="en-US" sz="13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systems hold partial versions of the same customer record and none of them is authoritative. The call centre works from a nightly export. The CRM holds a partial view. The ad platforms optimise against a conversion event that fires before qualification.</a:t>
            </a:r>
            <a:endParaRPr lang="en-US" sz="1350" dirty="0"/>
          </a:p>
          <a:p>
            <a:pPr indent="0" marL="0">
              <a:lnSpc>
                <a:spcPct val="142000"/>
              </a:lnSpc>
              <a:buNone/>
            </a:pPr>
            <a:endParaRPr lang="en-US" sz="13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Each is defensible alone. Together they guarantee the highest-intent leads are worked last.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03720" y="2240280"/>
            <a:ext cx="4510735" cy="7315"/>
          </a:xfrm>
          <a:prstGeom prst="rect">
            <a:avLst/>
          </a:prstGeom>
          <a:solidFill>
            <a:srgbClr val="0F1211"/>
          </a:solidFill>
          <a:ln/>
        </p:spPr>
      </p:sp>
      <p:sp>
        <p:nvSpPr>
          <p:cNvPr id="6" name="Text 4"/>
          <p:cNvSpPr/>
          <p:nvPr/>
        </p:nvSpPr>
        <p:spPr>
          <a:xfrm>
            <a:off x="6903720" y="23865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2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 4.2m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903720" y="29535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 SPEND UNDER</a:t>
            </a:r>
            <a:endParaRPr lang="en-US" sz="8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903720" y="3575304"/>
            <a:ext cx="4510735" cy="7315"/>
          </a:xfrm>
          <a:prstGeom prst="rect">
            <a:avLst/>
          </a:prstGeom>
          <a:solidFill>
            <a:srgbClr val="0F1211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37216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2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03720" y="428853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LEADS NEVER CONTACTED</a:t>
            </a:r>
            <a:endParaRPr lang="en-US" sz="8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 48 HOURS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03720" y="4910328"/>
            <a:ext cx="4510735" cy="7315"/>
          </a:xfrm>
          <a:prstGeom prst="rect">
            <a:avLst/>
          </a:prstGeom>
          <a:solidFill>
            <a:srgbClr val="0F1211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5056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2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1.9×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03720" y="5623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MODELLED UPLIFT AT</a:t>
            </a:r>
            <a:endParaRPr lang="en-US" sz="8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850" spc="14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VOLUME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317175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7240" y="6446520"/>
            <a:ext cx="329184" cy="3438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ARGUMENT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9509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Making one system authoritative is worth more than any change to media efficiency we could make this year.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4846320"/>
            <a:ext cx="3840480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585E5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routing gap alone accounts for an estimated R 1.1m in annual gross profit, before a single change to targeting or creative.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17175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7240" y="6446520"/>
            <a:ext cx="329184" cy="3438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CHANNEL PERFORMANCE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829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Qualified conversion by channel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92024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2148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 THIS 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25146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Lead forms convert at more than twice paid search, on a third of the budget. The allocation is inverted relative to the outcome it produces.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0" y="4434840"/>
            <a:ext cx="3200400" cy="7315"/>
          </a:xfrm>
          <a:prstGeom prst="rect">
            <a:avLst/>
          </a:prstGeom>
          <a:solidFill>
            <a:srgbClr val="C6C9C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Blended CVR measured at qualified-lead stage, not form submission. 12 months to 31 July 2026.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317175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777240" y="6446520"/>
            <a:ext cx="329184" cy="343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TIMELINE &amp; COMMERCIALS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82970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0F121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Phases, duration and fee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721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108960"/>
                <a:gridCol w="1737360"/>
                <a:gridCol w="13990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80" kern="0" dirty="0">
                          <a:solidFill>
                            <a:srgbClr val="585E5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PHASE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80" kern="0" dirty="0">
                          <a:solidFill>
                            <a:srgbClr val="585E5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BASIS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180" kern="0" dirty="0">
                          <a:solidFill>
                            <a:srgbClr val="585E5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DURATION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180" kern="0" dirty="0">
                          <a:solidFill>
                            <a:srgbClr val="585E5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FEE (EX VAT)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Discovery &amp; systems audit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Fixed fee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 weeks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 96,000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Architecture &amp; build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Fixed fee, staged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 weeks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 284,000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Migration &amp; enablement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Fixed fee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 weeks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 78,000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Optimisation retainer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211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Monthly, 6-month term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ongoing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2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 42,000 / mo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2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total  R 458,000  ·  Year one including retainer  R 836,000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7175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6C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7240" y="6446520"/>
            <a:ext cx="329184" cy="3438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3840480" cy="11549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3977640"/>
            <a:ext cx="5852160" cy="7315"/>
          </a:xfrm>
          <a:prstGeom prst="rect">
            <a:avLst/>
          </a:prstGeom>
          <a:solidFill>
            <a:srgbClr val="3A3E3C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42062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2F3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Fouad Maasdorp
</a:t>
            </a:r>
            <a:pPr indent="0" marL="0">
              <a:lnSpc>
                <a:spcPct val="160000"/>
              </a:lnSpc>
              <a:buNone/>
            </a:pPr>
            <a:r>
              <a:rPr lang="en-US" sz="950" spc="18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FOUNDER &amp; PRINCIPAL CONSULTANT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50749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2F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fmaasdorp08@gmail.com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2F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+27 00 000 0000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2F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fmconsulting.co.za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77240" y="67665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60" kern="0" dirty="0">
                <a:solidFill>
                  <a:srgbClr val="585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FM Consulting (Pty)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 Consulting — presentation template</dc:title>
  <dc:subject>PptxGenJS Presentation</dc:subject>
  <dc:creator>FM Consulting (Pty) Ltd</dc:creator>
  <cp:lastModifiedBy>FM Consulting (Pty) Ltd</cp:lastModifiedBy>
  <cp:revision>1</cp:revision>
  <dcterms:created xsi:type="dcterms:W3CDTF">2026-08-23T08:28:21Z</dcterms:created>
  <dcterms:modified xsi:type="dcterms:W3CDTF">2026-08-23T08:28:21Z</dcterms:modified>
</cp:coreProperties>
</file>